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66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25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F6149-17BE-8BB6-1046-708CDC55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F20AF-599B-4CD9-0B03-FEFD3F2F7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C086D-B547-E234-2AD6-7786C6C4F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72524-F430-32AF-D925-DCD4D7272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39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9632" y="0"/>
            <a:ext cx="4342368" cy="514350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039737"/>
            <a:ext cx="3200400" cy="292608"/>
          </a:xfrm>
          <a:prstGeom prst="roundRect">
            <a:avLst>
              <a:gd name="adj" fmla="val 31250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47335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AI-POWERED  ·  ENTERPRISE  ·  EDUCATION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14383" y="1039737"/>
            <a:ext cx="5029200" cy="245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Centralized Curriculum Management System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2232" y="1529007"/>
            <a:ext cx="34747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232" y="16279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Operating System for Modern Institutions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232" y="2398929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Curriculum · AI-Driven Intelligence · Enterprise Scheduling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" y="318308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Akhil Kumar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5577840" y="548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</a:endParaRPr>
          </a:p>
        </p:txBody>
      </p:sp>
      <p:pic>
        <p:nvPicPr>
          <p:cNvPr id="27" name="Graphic 26" descr="Theatre">
            <a:extLst>
              <a:ext uri="{FF2B5EF4-FFF2-40B4-BE49-F238E27FC236}">
                <a16:creationId xmlns:a16="http://schemas.microsoft.com/office/drawing/2014/main" id="{CD419C13-12F2-5FCC-0ADC-39A27AA1B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850" y="3787877"/>
            <a:ext cx="1146620" cy="1146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131A2E"/>
          </a:solidFill>
          <a:ln w="12700">
            <a:solidFill>
              <a:srgbClr val="FF444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8661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❌The Old 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spreadsheets &amp; paper records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curriculum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timetable scheduling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AI-assisted teaching support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across departments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student analytics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023360" cy="365760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4023360" cy="73152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787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Centralized Curriculum Management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Intelligence-First orchestration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Curriculum Studio with hierarchy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enterprise auto-scheduling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Teacher &amp; Student support suite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cloud resource 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&amp; insights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560320"/>
            <a:ext cx="457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2389747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 — The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34440" y="1801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· Tailwind CSS · Dark/Light Mode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69164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54864" cy="1691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258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66928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Django REST Framework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69280" y="1801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Auth · RESTful APIs · Scalable Architecture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4160520" cy="169164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880360"/>
            <a:ext cx="54864" cy="169164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461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23444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90027" y="3721608"/>
            <a:ext cx="33076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· Relational Model · Optimized Queries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4160520" cy="169164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880360"/>
            <a:ext cx="54864" cy="16916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66928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 Pro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5669280" y="3721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Intelligence · Content Generation · Analytics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4320" y="4773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Scalable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828800" y="4773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8288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383280" y="4773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38328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Intelligence Dashboards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432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097280"/>
            <a:ext cx="822960" cy="822960"/>
          </a:xfrm>
          <a:prstGeom prst="ellipse">
            <a:avLst/>
          </a:prstGeom>
          <a:solidFill>
            <a:srgbClr val="FF6B9D">
              <a:alpha val="25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6B9D"/>
                </a:solidFill>
              </a:rPr>
              <a:t>ADMIN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Control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oversight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configuration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91440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0" y="1097280"/>
            <a:ext cx="822960" cy="82296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18872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D4FF"/>
                </a:solidFill>
              </a:rPr>
              <a:t>TEACHER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2461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Studio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3756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builder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 planner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management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80760" y="914400"/>
            <a:ext cx="2743200" cy="393192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914400"/>
            <a:ext cx="2743200" cy="54864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40880" y="1097280"/>
            <a:ext cx="822960" cy="822960"/>
          </a:xfrm>
          <a:prstGeom prst="ellipse">
            <a:avLst/>
          </a:prstGeom>
          <a:solidFill>
            <a:srgbClr val="00FFB3">
              <a:alpha val="25000"/>
            </a:srgbClr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18872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0FFB3"/>
                </a:solidFill>
              </a:rPr>
              <a:t>STUDENT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Hub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6364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mentor support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 generator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assistance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Curriculum 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931920" cy="402336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</a:rPr>
              <a:t>CURRICULUM HIERARCHY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DEGREE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007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🌿 Branch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📘 Course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📄 Unit - 1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📄 Unit - 2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📘 Course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959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🌿 Branch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914400"/>
            <a:ext cx="4434840" cy="118872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914400"/>
            <a:ext cx="54864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0432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5780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Hierarchy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57800" y="132346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→ Branch → Course → Unit structured taxonomy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34840" y="2240280"/>
            <a:ext cx="4434840" cy="118872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240280"/>
            <a:ext cx="54864" cy="1188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96312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Intelligence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257800" y="2653374"/>
            <a:ext cx="3474720" cy="42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drag-and-drop syllabus architecture builder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34840" y="3557016"/>
            <a:ext cx="4434840" cy="118872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434840" y="3566160"/>
            <a:ext cx="54864" cy="1188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22192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57800" y="3675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Optimize ✦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257800" y="3922507"/>
            <a:ext cx="34747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curriculum gaps &amp; suggests industrial relevance improvements</a:t>
            </a:r>
            <a:endParaRPr lang="en-US" sz="11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EE1840DB-1E14-AEEC-7F80-E8FAFF668D24}"/>
              </a:ext>
            </a:extLst>
          </p:cNvPr>
          <p:cNvSpPr/>
          <p:nvPr/>
        </p:nvSpPr>
        <p:spPr>
          <a:xfrm>
            <a:off x="1371600" y="33787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📄 Unit - 1</a:t>
            </a:r>
            <a:endParaRPr lang="en-US" sz="14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719A4DC0-75FB-BC23-BAF4-4AEB8156E8F5}"/>
              </a:ext>
            </a:extLst>
          </p:cNvPr>
          <p:cNvSpPr/>
          <p:nvPr/>
        </p:nvSpPr>
        <p:spPr>
          <a:xfrm>
            <a:off x="1371600" y="3721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📄 Unit - 2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Resource 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474720" cy="397764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FF"/>
                </a:solidFill>
              </a:rPr>
              <a:t>CENTRALIZED STORAGE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944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Documents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Lectures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Handouts &amp; Notes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Unit-Level Contextual Uploads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914400"/>
            <a:ext cx="4892040" cy="397764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C63FF"/>
                </a:solidFill>
              </a:rPr>
              <a:t>ROLE-BASED ACCESS CONTROL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1463040"/>
            <a:ext cx="4572000" cy="1097280"/>
          </a:xfrm>
          <a:prstGeom prst="rect">
            <a:avLst/>
          </a:prstGeom>
          <a:solidFill>
            <a:srgbClr val="0F1629"/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0" y="146304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9164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776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TEACHERS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1938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Edit · Manage Resources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0" y="2743200"/>
            <a:ext cx="4572000" cy="1097280"/>
          </a:xfrm>
          <a:prstGeom prst="rect">
            <a:avLst/>
          </a:prstGeom>
          <a:solidFill>
            <a:srgbClr val="0F1629"/>
          </a:solidFill>
          <a:ln w="12700">
            <a:solidFill>
              <a:srgbClr val="00FFB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14800" y="2743200"/>
            <a:ext cx="54864" cy="109728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97180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3776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 STUDENTS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937760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Download · Consume Content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1148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SimpleJWT + Role Enforcement on every endpoint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Teacher Suite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Pro Neural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416052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777240" cy="77724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27632"/>
            <a:ext cx="630936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 Planner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structured, outcome-aligned lesson plans in seconds from topic inputs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6052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554480"/>
            <a:ext cx="777240" cy="77724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27632"/>
            <a:ext cx="630936" cy="6309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Quiz Generator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6072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MCQ, short-answer, and scenario-based assessments automatically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" y="3063240"/>
            <a:ext cx="416052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383280"/>
            <a:ext cx="777240" cy="777240"/>
          </a:xfrm>
          <a:prstGeom prst="ellipse">
            <a:avLst/>
          </a:prstGeom>
          <a:solidFill>
            <a:srgbClr val="FF6B9D">
              <a:alpha val="25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456432"/>
            <a:ext cx="630936" cy="6309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Analyzer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2588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tag learning objectives across all 6 cognitive levels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383280"/>
            <a:ext cx="777240" cy="777240"/>
          </a:xfrm>
          <a:prstGeom prst="ellipse">
            <a:avLst/>
          </a:prstGeom>
          <a:solidFill>
            <a:srgbClr val="00FFB3">
              <a:alpha val="25000"/>
            </a:srgbClr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56432"/>
            <a:ext cx="630936" cy="6309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Content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7607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full structured content per topic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Enterprise Scheduler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384048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45720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8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097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Interface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1444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timetable powered by FullCalendar.js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194560"/>
            <a:ext cx="384048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2194560"/>
            <a:ext cx="45720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5728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Engine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1872" y="2633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Auto-scheduling based on faculty workload analysis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" y="3383280"/>
            <a:ext cx="3840480" cy="1051560"/>
          </a:xfrm>
          <a:prstGeom prst="rect">
            <a:avLst/>
          </a:prstGeom>
          <a:solidFill>
            <a:srgbClr val="0F1629"/>
          </a:solidFill>
          <a:ln w="12700">
            <a:solidFill>
              <a:srgbClr val="00FFB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383280"/>
            <a:ext cx="45720" cy="105156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84448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3474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Scheduling Efficiency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61872" y="38221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&amp; optimal resource utilization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</a:rPr>
              <a:t>⚡  Powered by FullCalendar.js + Google Gemini Pro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3492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EC5"/>
                </a:solidFill>
              </a:rPr>
              <a:t>MON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0350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EC5"/>
                </a:solidFill>
              </a:rPr>
              <a:t>TUE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7208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EC5"/>
                </a:solidFill>
              </a:rPr>
              <a:t>WED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4066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EC5"/>
                </a:solidFill>
              </a:rPr>
              <a:t>THU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09244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BEC5"/>
                </a:solidFill>
              </a:rPr>
              <a:t>FRI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739128" y="1325880"/>
            <a:ext cx="621792" cy="475488"/>
          </a:xfrm>
          <a:prstGeom prst="rect">
            <a:avLst/>
          </a:prstGeom>
          <a:solidFill>
            <a:srgbClr val="00FFB3">
              <a:alpha val="50000"/>
            </a:srgbClr>
          </a:solidFill>
          <a:ln w="12700">
            <a:solidFill>
              <a:srgbClr val="00FFB3">
                <a:alpha val="7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24928" y="1325880"/>
            <a:ext cx="621792" cy="4754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110728" y="1325880"/>
            <a:ext cx="621792" cy="4754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67528" y="1874520"/>
            <a:ext cx="621792" cy="4754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53328" y="1874520"/>
            <a:ext cx="621792" cy="475488"/>
          </a:xfrm>
          <a:prstGeom prst="rect">
            <a:avLst/>
          </a:prstGeom>
          <a:solidFill>
            <a:srgbClr val="00FFB3">
              <a:alpha val="50000"/>
            </a:srgbClr>
          </a:solidFill>
          <a:ln w="12700">
            <a:solidFill>
              <a:srgbClr val="00FFB3">
                <a:alpha val="7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424928" y="1874520"/>
            <a:ext cx="621792" cy="4754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110728" y="1874520"/>
            <a:ext cx="621792" cy="475488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367528" y="2423160"/>
            <a:ext cx="621792" cy="475488"/>
          </a:xfrm>
          <a:prstGeom prst="rect">
            <a:avLst/>
          </a:prstGeom>
          <a:solidFill>
            <a:srgbClr val="00FFB3">
              <a:alpha val="50000"/>
            </a:srgbClr>
          </a:solidFill>
          <a:ln w="12700">
            <a:solidFill>
              <a:srgbClr val="00FFB3">
                <a:alpha val="70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053328" y="2423160"/>
            <a:ext cx="621792" cy="4754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739128" y="2423160"/>
            <a:ext cx="621792" cy="4754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110728" y="2423160"/>
            <a:ext cx="621792" cy="4754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367528" y="2971800"/>
            <a:ext cx="621792" cy="4754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>
                <a:alpha val="7000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424928" y="2971800"/>
            <a:ext cx="621792" cy="4754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110728" y="2971800"/>
            <a:ext cx="621792" cy="475488"/>
          </a:xfrm>
          <a:prstGeom prst="rect">
            <a:avLst/>
          </a:prstGeom>
          <a:solidFill>
            <a:srgbClr val="00FFB3">
              <a:alpha val="50000"/>
            </a:srgbClr>
          </a:solidFill>
          <a:ln w="12700">
            <a:solidFill>
              <a:srgbClr val="00FFB3">
                <a:alpha val="7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367528" y="3520440"/>
            <a:ext cx="621792" cy="4754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053328" y="3520440"/>
            <a:ext cx="621792" cy="475488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739128" y="3520440"/>
            <a:ext cx="621792" cy="4754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424928" y="3520440"/>
            <a:ext cx="621792" cy="475488"/>
          </a:xfrm>
          <a:prstGeom prst="rect">
            <a:avLst/>
          </a:prstGeom>
          <a:solidFill>
            <a:srgbClr val="00FFB3">
              <a:alpha val="50000"/>
            </a:srgbClr>
          </a:solidFill>
          <a:ln w="12700">
            <a:solidFill>
              <a:srgbClr val="00FFB3">
                <a:alpha val="70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617720" y="13898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</a:rPr>
              <a:t>9AM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4617720" y="19385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</a:rPr>
              <a:t>10AM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617720" y="24871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</a:rPr>
              <a:t>11AM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4617720" y="30358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</a:rPr>
              <a:t>12PM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4617720" y="35844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46E7A"/>
                </a:solidFill>
              </a:rPr>
              <a:t>1PM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Student Mentor — 24/7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FFB3"/>
                </a:solidFill>
              </a:rPr>
              <a:t>AI STUDENT MENTOR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35331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6C63FF">
              <a:alpha val="7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37160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Dijkstra's algorithm?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0F1629"/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84832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Sure! Dijkstra's finds shortest paths by greedily choosing the nearest unvisited node...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779776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6C63FF">
              <a:alpha val="7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2798064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7-day study plan for OS exam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0F1629"/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511296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your personalized plan: Day 1 — Process Management...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29768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0F1629"/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15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your studies...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4297680" cy="86868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914400"/>
            <a:ext cx="4572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875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Clarification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2984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any topic in curriculum with depth and examples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1901952"/>
            <a:ext cx="4297680" cy="86868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901952"/>
            <a:ext cx="45720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75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Help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286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assistance for problem-solving &amp; coding tasks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889504"/>
            <a:ext cx="4297680" cy="86868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889504"/>
            <a:ext cx="45720" cy="86868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626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2735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revision schedules based on syllabus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3877056"/>
            <a:ext cx="4297680" cy="86868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877056"/>
            <a:ext cx="45720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50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42611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 — no waiting, instant intelligent responses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UI/UX &amp; Premium Design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"Billion-Dollar SaaS" Feel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98448"/>
            <a:ext cx="685800" cy="6858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0744"/>
            <a:ext cx="521208" cy="5212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164592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toggle with system preference detection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09728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97280"/>
            <a:ext cx="274320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298448"/>
            <a:ext cx="685800" cy="68580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80744"/>
            <a:ext cx="521208" cy="5212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60520" y="164592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page transitions &amp; micro-interaction effects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09728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097280"/>
            <a:ext cx="2743200" cy="4572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91072" y="1298448"/>
            <a:ext cx="685800" cy="685800"/>
          </a:xfrm>
          <a:prstGeom prst="ellipse">
            <a:avLst/>
          </a:prstGeom>
          <a:solidFill>
            <a:srgbClr val="00FFB3">
              <a:alpha val="25000"/>
            </a:srgbClr>
          </a:solidFill>
          <a:ln w="12700">
            <a:solidFill>
              <a:srgbClr val="00FFB3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80744"/>
            <a:ext cx="521208" cy="5212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86600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086600" y="164592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</a:t>
            </a: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desktop, tablet and mobile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FF6B9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880360"/>
            <a:ext cx="274320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8912" y="3081528"/>
            <a:ext cx="685800" cy="685800"/>
          </a:xfrm>
          <a:prstGeom prst="ellipse">
            <a:avLst/>
          </a:prstGeom>
          <a:solidFill>
            <a:srgbClr val="FF6B9D">
              <a:alpha val="25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163824"/>
            <a:ext cx="521208" cy="5212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044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Toast System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234440" y="342900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contextual notifications for all actions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0" y="288036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3081528"/>
            <a:ext cx="685800" cy="68580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163824"/>
            <a:ext cx="521208" cy="5212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60520" y="3044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160520" y="342900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glass-effect UI with backdrop blur layers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126480" y="2880360"/>
            <a:ext cx="2743200" cy="1600200"/>
          </a:xfrm>
          <a:prstGeom prst="rect">
            <a:avLst/>
          </a:prstGeom>
          <a:solidFill>
            <a:srgbClr val="131A2E"/>
          </a:solidFill>
          <a:ln w="12700">
            <a:solidFill>
              <a:srgbClr val="FFD7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2880360"/>
            <a:ext cx="27432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91072" y="3081528"/>
            <a:ext cx="685800" cy="685800"/>
          </a:xfrm>
          <a:prstGeom prst="ellipse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163824"/>
            <a:ext cx="521208" cy="5212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86600" y="3044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Typography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086600" y="342900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font hierarchy with visual rhythm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0AF5C-165F-98B7-0B18-0BF116C3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5B13AD-4EB6-B1E9-2671-9FD06E1D06A0}"/>
              </a:ext>
            </a:extLst>
          </p:cNvPr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11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2429B2-24B2-0581-D388-49CC14E237A9}"/>
              </a:ext>
            </a:extLst>
          </p:cNvPr>
          <p:cNvSpPr/>
          <p:nvPr/>
        </p:nvSpPr>
        <p:spPr>
          <a:xfrm>
            <a:off x="457200" y="8149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Gallery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52CC80-DEAD-B055-9CF9-ECF540125F2A}"/>
              </a:ext>
            </a:extLst>
          </p:cNvPr>
          <p:cNvSpPr/>
          <p:nvPr/>
        </p:nvSpPr>
        <p:spPr>
          <a:xfrm>
            <a:off x="457200" y="561550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3A7956-5E21-3909-3766-F4210AF125E3}"/>
              </a:ext>
            </a:extLst>
          </p:cNvPr>
          <p:cNvSpPr/>
          <p:nvPr/>
        </p:nvSpPr>
        <p:spPr>
          <a:xfrm>
            <a:off x="274320" y="960120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33E214-0FFF-0DCA-5914-D886F42C1287}"/>
              </a:ext>
            </a:extLst>
          </p:cNvPr>
          <p:cNvSpPr/>
          <p:nvPr/>
        </p:nvSpPr>
        <p:spPr>
          <a:xfrm>
            <a:off x="123444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07B363D-C9E2-14E2-9CE7-A1337633FAAE}"/>
              </a:ext>
            </a:extLst>
          </p:cNvPr>
          <p:cNvSpPr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4251404-459D-EB2E-B22D-F6B37FAF1A95}"/>
              </a:ext>
            </a:extLst>
          </p:cNvPr>
          <p:cNvSpPr/>
          <p:nvPr/>
        </p:nvSpPr>
        <p:spPr>
          <a:xfrm>
            <a:off x="4709160" y="960120"/>
            <a:ext cx="54864" cy="1691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3FC217A-B6BF-AA0E-0268-25C304C3A64A}"/>
              </a:ext>
            </a:extLst>
          </p:cNvPr>
          <p:cNvSpPr/>
          <p:nvPr/>
        </p:nvSpPr>
        <p:spPr>
          <a:xfrm>
            <a:off x="566928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62419F5-96CF-F04D-7510-EA779391F1C8}"/>
              </a:ext>
            </a:extLst>
          </p:cNvPr>
          <p:cNvSpPr/>
          <p:nvPr/>
        </p:nvSpPr>
        <p:spPr>
          <a:xfrm>
            <a:off x="566928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FD709AA-DD83-AEBF-707B-6F2C13FC3A70}"/>
              </a:ext>
            </a:extLst>
          </p:cNvPr>
          <p:cNvSpPr/>
          <p:nvPr/>
        </p:nvSpPr>
        <p:spPr>
          <a:xfrm>
            <a:off x="300677" y="3154629"/>
            <a:ext cx="54864" cy="169164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A360C71-00CC-B187-D640-1226B345DE4B}"/>
              </a:ext>
            </a:extLst>
          </p:cNvPr>
          <p:cNvSpPr/>
          <p:nvPr/>
        </p:nvSpPr>
        <p:spPr>
          <a:xfrm>
            <a:off x="123444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382E1B5-FCEB-B6A0-01E7-0432B3C79990}"/>
              </a:ext>
            </a:extLst>
          </p:cNvPr>
          <p:cNvSpPr/>
          <p:nvPr/>
        </p:nvSpPr>
        <p:spPr>
          <a:xfrm>
            <a:off x="123444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A5D5C2F-0222-A056-B2DB-90C5A1289DCE}"/>
              </a:ext>
            </a:extLst>
          </p:cNvPr>
          <p:cNvSpPr/>
          <p:nvPr/>
        </p:nvSpPr>
        <p:spPr>
          <a:xfrm>
            <a:off x="990027" y="3721608"/>
            <a:ext cx="33076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8092149E-6ABE-9E19-A8DA-E800AAF8B582}"/>
              </a:ext>
            </a:extLst>
          </p:cNvPr>
          <p:cNvSpPr/>
          <p:nvPr/>
        </p:nvSpPr>
        <p:spPr>
          <a:xfrm>
            <a:off x="4717228" y="3269786"/>
            <a:ext cx="54864" cy="16916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9854B3A-0561-B6D3-1290-F0702FB4E25A}"/>
              </a:ext>
            </a:extLst>
          </p:cNvPr>
          <p:cNvSpPr/>
          <p:nvPr/>
        </p:nvSpPr>
        <p:spPr>
          <a:xfrm>
            <a:off x="5669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566E607-D5A7-8594-012E-E35129467170}"/>
              </a:ext>
            </a:extLst>
          </p:cNvPr>
          <p:cNvSpPr/>
          <p:nvPr/>
        </p:nvSpPr>
        <p:spPr>
          <a:xfrm>
            <a:off x="566928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77D55D68-62EC-66DC-5FA7-FBD2767D22A6}"/>
              </a:ext>
            </a:extLst>
          </p:cNvPr>
          <p:cNvSpPr/>
          <p:nvPr/>
        </p:nvSpPr>
        <p:spPr>
          <a:xfrm>
            <a:off x="5669280" y="3721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5ED96856-4A6E-C6AF-8E42-FCD67C599C3E}"/>
              </a:ext>
            </a:extLst>
          </p:cNvPr>
          <p:cNvSpPr/>
          <p:nvPr/>
        </p:nvSpPr>
        <p:spPr>
          <a:xfrm>
            <a:off x="18288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E514BFA-BB6D-28A0-2BF3-3E1B86EEB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3" y="760687"/>
            <a:ext cx="3361764" cy="200821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3FE41B-EC1F-62A7-28C4-5D135AD9A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17" y="781812"/>
            <a:ext cx="3452335" cy="20082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C610E6E-2ADA-3163-2EEC-DB4E111F9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54" y="3064903"/>
            <a:ext cx="3377466" cy="189652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F79D3B-791E-547E-39FD-4A00550D8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145" y="3020275"/>
            <a:ext cx="3452335" cy="194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7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965960"/>
            <a:ext cx="45720" cy="33832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280160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005840"/>
            <a:ext cx="6858000" cy="1097280"/>
          </a:xfrm>
          <a:prstGeom prst="rect">
            <a:avLst/>
          </a:prstGeom>
          <a:solidFill>
            <a:srgbClr val="131A2E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65960" y="100584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207008"/>
            <a:ext cx="658368" cy="658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52928" y="107899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Q3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52928" y="135331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Certificates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52928" y="170992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Tamper-proof, decentralized academic certificate verification on distributed ledger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08760" y="3264408"/>
            <a:ext cx="45720" cy="338328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25880" y="2578608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65960" y="2304288"/>
            <a:ext cx="6858000" cy="1097280"/>
          </a:xfrm>
          <a:prstGeom prst="rect">
            <a:avLst/>
          </a:prstGeom>
          <a:solidFill>
            <a:srgbClr val="131A2E"/>
          </a:solidFill>
          <a:ln w="12700">
            <a:solidFill>
              <a:srgbClr val="6C6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65960" y="2304288"/>
            <a:ext cx="54864" cy="10972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505456"/>
            <a:ext cx="658368" cy="6583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2377440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Q1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852928" y="265176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Face-ID Attendance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852928" y="300837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biometric attendance tracking using AI facial recognition technology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325880" y="3877056"/>
            <a:ext cx="411480" cy="4114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965960" y="3602736"/>
            <a:ext cx="6858000" cy="1097280"/>
          </a:xfrm>
          <a:prstGeom prst="rect">
            <a:avLst/>
          </a:prstGeom>
          <a:solidFill>
            <a:srgbClr val="131A2E"/>
          </a:solidFill>
          <a:ln w="12700">
            <a:solidFill>
              <a:srgbClr val="00FFB3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965960" y="3602736"/>
            <a:ext cx="54864" cy="109728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803904"/>
            <a:ext cx="658368" cy="6583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852928" y="367588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Q3 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852928" y="395020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Placement Analytics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2852928" y="4306824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career forecasting &amp; placement probability scoring for each student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6400800" cy="64008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182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>
                    <a:alpha val="40000"/>
                  </a:srgbClr>
                </a:solidFill>
              </a:rPr>
              <a:t>13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745602" y="-1371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3131" y="1371600"/>
            <a:ext cx="871086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Centralized Curriculum Management System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200400" y="25603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670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just a tool — it's the future of education.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Curriculum · AI Intelligence · Enterprise Scale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3703320"/>
            <a:ext cx="2194560" cy="411480"/>
          </a:xfrm>
          <a:prstGeom prst="roundRect">
            <a:avLst>
              <a:gd name="adj" fmla="val 26667"/>
            </a:avLst>
          </a:prstGeom>
          <a:solidFill>
            <a:srgbClr val="6C63FF">
              <a:alpha val="70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Q &amp; 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3703320"/>
            <a:ext cx="2194560" cy="411480"/>
          </a:xfrm>
          <a:prstGeom prst="roundRect">
            <a:avLst>
              <a:gd name="adj" fmla="val 26667"/>
            </a:avLst>
          </a:prstGeom>
          <a:solidFill>
            <a:srgbClr val="131A2E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Contact: akhil.megavath03@gmail.com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3703320"/>
            <a:ext cx="2194560" cy="411480"/>
          </a:xfrm>
          <a:prstGeom prst="roundRect">
            <a:avLst>
              <a:gd name="adj" fmla="val 26667"/>
            </a:avLst>
          </a:prstGeom>
          <a:solidFill>
            <a:srgbClr val="131A2E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GitHub: github.com/akhilkumar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Akhil Kumar  |  SYNYCS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706</Words>
  <Application>Microsoft Office PowerPoint</Application>
  <PresentationFormat>On-screen Show (16:9)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SYNYCS PROJECT</dc:title>
  <dc:subject>PptxGenJS Presentation</dc:subject>
  <dc:creator>Akhil Kumar</dc:creator>
  <cp:lastModifiedBy>virat akhil</cp:lastModifiedBy>
  <cp:revision>3</cp:revision>
  <dcterms:created xsi:type="dcterms:W3CDTF">2026-05-21T04:33:21Z</dcterms:created>
  <dcterms:modified xsi:type="dcterms:W3CDTF">2026-05-21T12:28:18Z</dcterms:modified>
</cp:coreProperties>
</file>